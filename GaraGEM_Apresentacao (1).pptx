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7E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544ED-1ED4-45D4-8F40-7FA3A478EF34}" v="275" dt="2026-06-10T21:09:44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22C6B-60BD-4735-840F-2731B849867A}" type="datetimeFigureOut">
              <a:t>10/06/2026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C39B4-DD21-459E-8CE9-98C36663E656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77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3657600"/>
            <a:ext cx="6400800" cy="64008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pic>
        <p:nvPicPr>
          <p:cNvPr id="4" name="Image 0" descr="/home/claude/build/icons/park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GaraGEM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0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Gestão de Estacionamento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funcionamento do site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GaraGEM e como ele foi construído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760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28090"/>
                </a:solidFill>
              </a:rPr>
              <a:t>O que o sistema faz</a:t>
            </a:r>
            <a:endParaRPr lang="en-US" sz="17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E2935"/>
                </a:solidFill>
              </a:rPr>
              <a:t>Gerencia o dia a dia de um estacionamento: entrada e saída de veículos, vagas disponíveis, cadastro de usuários e veículos, e relatórios das movimentações.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28090"/>
                </a:solidFill>
              </a:rPr>
              <a:t>Como foi desenvolvido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Backend em Django (Python), responsável pelas regras e dados do sistema.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Frontend em HTML, CSS e JavaScript, com as telas de uso diário.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Layout planejado previamente no Figma.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33804" y="1327859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4FB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33904" y="1647899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build/icons/park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064" y="1785059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3804" y="2470859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85564" y="1327859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4FB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985664" y="1647899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build/icons/c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824" y="1785059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85564" y="2470859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533804" y="3751019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4FB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33904" y="4071059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build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064" y="4208219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3804" y="4894019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9185564" y="3751019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4FB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985664" y="4071059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/home/claude/build/icons/repo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824" y="4208219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85564" y="4894019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015" y="292727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ao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361015" y="887087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cadastro de novos usuários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20403" y="5367769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Login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0403" y="5550263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 senha para acessar o sistema, com opção de recuperar senha.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39117" y="5415997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Tela</a:t>
            </a:r>
            <a:r>
              <a:rPr lang="en-US" sz="1600" b="1" dirty="0">
                <a:solidFill>
                  <a:srgbClr val="027E8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600" b="1" dirty="0" err="1">
                <a:solidFill>
                  <a:srgbClr val="027E8E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1600" b="1" dirty="0" err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stro</a:t>
            </a:r>
            <a:endParaRPr lang="en-US" sz="16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539117" y="5598491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criar uma nova conta de usuário, com confirmação de senha e e-mail.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13" name="Imagem 12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F257C054-E58E-E287-63F8-2B03C48A4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32" y="1289250"/>
            <a:ext cx="5499468" cy="3874135"/>
          </a:xfrm>
          <a:prstGeom prst="rect">
            <a:avLst/>
          </a:prstGeom>
        </p:spPr>
      </p:pic>
      <p:pic>
        <p:nvPicPr>
          <p:cNvPr id="14" name="Imagem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BDB562E-BB95-0FFF-60D7-382D02849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89166"/>
            <a:ext cx="5739741" cy="3873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E030EDCA-258C-5F4B-7C52-21F6CADC4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03" y="2286146"/>
            <a:ext cx="5848598" cy="2908663"/>
          </a:xfrm>
          <a:prstGeom prst="rect">
            <a:avLst/>
          </a:prstGeom>
        </p:spPr>
      </p:pic>
      <p:pic>
        <p:nvPicPr>
          <p:cNvPr id="3" name="Imagem 2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BD42FC96-9AF9-2EA7-FA57-B2F8A5EEA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58" y="2286001"/>
            <a:ext cx="5719949" cy="290945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9199A6B-8B79-89F5-CB5D-737B49C16BDC}"/>
              </a:ext>
            </a:extLst>
          </p:cNvPr>
          <p:cNvSpPr txBox="1"/>
          <p:nvPr/>
        </p:nvSpPr>
        <p:spPr>
          <a:xfrm>
            <a:off x="4176156" y="1103416"/>
            <a:ext cx="681841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alibri"/>
                <a:cs typeface="Segoe UI"/>
              </a:rPr>
              <a:t>Tela de </a:t>
            </a:r>
            <a:r>
              <a:rPr lang="en-US" sz="2000" dirty="0" err="1">
                <a:solidFill>
                  <a:srgbClr val="0070C0"/>
                </a:solidFill>
                <a:latin typeface="Calibri"/>
                <a:cs typeface="Segoe UI"/>
              </a:rPr>
              <a:t>confirmação</a:t>
            </a:r>
            <a:r>
              <a:rPr lang="en-US" sz="2000" dirty="0">
                <a:solidFill>
                  <a:srgbClr val="0070C0"/>
                </a:solidFill>
                <a:latin typeface="Calibri"/>
                <a:cs typeface="Segoe UI"/>
              </a:rPr>
              <a:t> do Email</a:t>
            </a:r>
            <a:endParaRPr lang="pt-BR" sz="2000">
              <a:solidFill>
                <a:srgbClr val="0070C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1174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estacionamento em tempo real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4840857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5"/>
                </a:solidFill>
              </a:rPr>
              <a:t>Logo ao entrar, o usuário vê: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Quantidade de carros estacionados no momento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Entradas e saídas registradas no dia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Vagas disponíveis no momento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Gráfico de movimentações dos últimos 7 dias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Percentual de ocupação e últimos registros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Gráfico&#10;&#10;O conteúdo gerado por IA pode estar incorreto.">
            <a:extLst>
              <a:ext uri="{FF2B5EF4-FFF2-40B4-BE49-F238E27FC236}">
                <a16:creationId xmlns:a16="http://schemas.microsoft.com/office/drawing/2014/main" id="{744B161C-769B-E009-8976-2B500A3E1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6" y="385561"/>
            <a:ext cx="12192000" cy="608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de Veículos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consulta dos veículos do estacionamento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5"/>
                </a:solidFill>
              </a:rPr>
              <a:t>Lista todos os veículos cadastrados, com placa, modelo, cor, proprietário, matrícula e status.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Busca rápida por placa ou proprietário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Filtro por status do veículo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Botão para cadastrar um novo veículo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8" name="Imagem 7" descr="Tabela&#10;&#10;O conteúdo gerado por IA pode estar incorreto.">
            <a:extLst>
              <a:ext uri="{FF2B5EF4-FFF2-40B4-BE49-F238E27FC236}">
                <a16:creationId xmlns:a16="http://schemas.microsoft.com/office/drawing/2014/main" id="{A5D97950-49F6-C4E1-7D85-BE21C3FE0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46" y="3307887"/>
            <a:ext cx="11668125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Entrada e Saída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das movimentações dos veículos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78377" y="731713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5"/>
                </a:solidFill>
              </a:rPr>
              <a:t>Tela onde ficam registradas as entradas e saídas de veículos.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Busca por placa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Filtro por tipo (entrada/saída) e por horário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Mostra horário, tempo de permanência, foto e status de cada movimentação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9" name="Imagem 8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ECF34AB5-BE10-64F8-15F0-10EB46E14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46" y="2563129"/>
            <a:ext cx="11668125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Usuários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quem pode acessar o sistema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5"/>
                </a:solidFill>
              </a:rPr>
              <a:t>Lista os usuários cadastrados, com nome, e-mail, matrícula, perfil e status.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Busca por nome ou matrícula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Cadastro de novos usuários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Definição de perfis de acesso (ex: administrador, operador)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8" name="Imagem 7" descr="Tabela&#10;&#10;O conteúdo gerado por IA pode estar incorreto.">
            <a:extLst>
              <a:ext uri="{FF2B5EF4-FFF2-40B4-BE49-F238E27FC236}">
                <a16:creationId xmlns:a16="http://schemas.microsoft.com/office/drawing/2014/main" id="{BFC3AD65-D2DF-C47E-65E8-F98B1C5DF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05" y="3332303"/>
            <a:ext cx="11706225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321" y="170341"/>
            <a:ext cx="4979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 Operacionais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25321" y="890093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5A6B70"/>
                </a:solidFill>
                <a:latin typeface="Calibri"/>
                <a:ea typeface="Calibri"/>
                <a:cs typeface="Calibri"/>
              </a:rPr>
              <a:t>Análise</a:t>
            </a:r>
            <a:r>
              <a:rPr lang="en-US" sz="1500" dirty="0">
                <a:solidFill>
                  <a:srgbClr val="5A6B70"/>
                </a:solidFill>
                <a:latin typeface="Calibri"/>
                <a:ea typeface="Calibri"/>
                <a:cs typeface="Calibri"/>
              </a:rPr>
              <a:t> das </a:t>
            </a:r>
            <a:r>
              <a:rPr lang="en-US" sz="1500" dirty="0" err="1">
                <a:solidFill>
                  <a:srgbClr val="5A6B70"/>
                </a:solidFill>
                <a:latin typeface="Calibri"/>
                <a:ea typeface="Calibri"/>
                <a:cs typeface="Calibri"/>
              </a:rPr>
              <a:t>movimentações</a:t>
            </a:r>
            <a:r>
              <a:rPr lang="en-US" sz="1500" dirty="0">
                <a:solidFill>
                  <a:srgbClr val="5A6B7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5A6B70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500" dirty="0">
                <a:solidFill>
                  <a:srgbClr val="5A6B70"/>
                </a:solidFill>
                <a:latin typeface="Calibri"/>
                <a:ea typeface="Calibri"/>
                <a:cs typeface="Calibri"/>
              </a:rPr>
              <a:t> um </a:t>
            </a:r>
            <a:r>
              <a:rPr lang="en-US" sz="1500" dirty="0" err="1">
                <a:solidFill>
                  <a:srgbClr val="5A6B70"/>
                </a:solidFill>
                <a:latin typeface="Calibri"/>
                <a:ea typeface="Calibri"/>
                <a:cs typeface="Calibri"/>
              </a:rPr>
              <a:t>período</a:t>
            </a:r>
            <a:br>
              <a:rPr lang="en-US" dirty="0"/>
            </a:br>
            <a:r>
              <a:rPr lang="en-US" sz="1400" dirty="0" err="1">
                <a:solidFill>
                  <a:srgbClr val="1E2935"/>
                </a:solidFill>
                <a:ea typeface="Calibri"/>
                <a:cs typeface="Calibri"/>
              </a:rPr>
              <a:t>Permite</a:t>
            </a:r>
            <a:r>
              <a:rPr lang="en-US" sz="1400" dirty="0">
                <a:solidFill>
                  <a:srgbClr val="1E2935"/>
                </a:solidFill>
                <a:ea typeface="Calibri"/>
                <a:cs typeface="Calibri"/>
              </a:rPr>
              <a:t> </a:t>
            </a:r>
            <a:r>
              <a:rPr lang="en-US" sz="1400" dirty="0" err="1">
                <a:solidFill>
                  <a:srgbClr val="1E2935"/>
                </a:solidFill>
                <a:ea typeface="Calibri"/>
                <a:cs typeface="Calibri"/>
              </a:rPr>
              <a:t>filtrar</a:t>
            </a:r>
            <a:r>
              <a:rPr lang="en-US" sz="1400" dirty="0">
                <a:solidFill>
                  <a:srgbClr val="1E2935"/>
                </a:solidFill>
                <a:ea typeface="Calibri"/>
                <a:cs typeface="Calibri"/>
              </a:rPr>
              <a:t> </a:t>
            </a:r>
            <a:r>
              <a:rPr lang="en-US" sz="1400" dirty="0" err="1">
                <a:solidFill>
                  <a:srgbClr val="1E2935"/>
                </a:solidFill>
                <a:ea typeface="Calibri"/>
                <a:cs typeface="Calibri"/>
              </a:rPr>
              <a:t>registros</a:t>
            </a:r>
            <a:r>
              <a:rPr lang="en-US" sz="1400" dirty="0">
                <a:solidFill>
                  <a:srgbClr val="1E2935"/>
                </a:solidFill>
                <a:ea typeface="Calibri"/>
                <a:cs typeface="Calibri"/>
              </a:rPr>
              <a:t> </a:t>
            </a:r>
            <a:r>
              <a:rPr lang="en-US" sz="1400" dirty="0" err="1">
                <a:solidFill>
                  <a:srgbClr val="1E2935"/>
                </a:solidFill>
                <a:ea typeface="Calibri"/>
                <a:cs typeface="Calibri"/>
              </a:rPr>
              <a:t>por</a:t>
            </a:r>
            <a:r>
              <a:rPr lang="en-US" sz="1400" dirty="0">
                <a:solidFill>
                  <a:srgbClr val="1E2935"/>
                </a:solidFill>
                <a:ea typeface="Calibri"/>
                <a:cs typeface="Calibri"/>
              </a:rPr>
              <a:t> </a:t>
            </a:r>
            <a:r>
              <a:rPr lang="en-US" sz="1400" dirty="0" err="1">
                <a:solidFill>
                  <a:srgbClr val="1E2935"/>
                </a:solidFill>
                <a:ea typeface="Calibri"/>
                <a:cs typeface="Calibri"/>
              </a:rPr>
              <a:t>período</a:t>
            </a:r>
            <a:r>
              <a:rPr lang="en-US" sz="1400" dirty="0">
                <a:solidFill>
                  <a:srgbClr val="1E2935"/>
                </a:solidFill>
                <a:ea typeface="Calibri"/>
                <a:cs typeface="Calibri"/>
              </a:rPr>
              <a:t>, </a:t>
            </a:r>
            <a:r>
              <a:rPr lang="en-US" sz="1400" dirty="0" err="1">
                <a:solidFill>
                  <a:srgbClr val="1E2935"/>
                </a:solidFill>
                <a:ea typeface="Calibri"/>
                <a:cs typeface="Calibri"/>
              </a:rPr>
              <a:t>placa,status</a:t>
            </a:r>
            <a:r>
              <a:rPr lang="en-US" sz="1400" dirty="0">
                <a:solidFill>
                  <a:srgbClr val="1E2935"/>
                </a:solidFill>
                <a:ea typeface="Calibri"/>
                <a:cs typeface="Calibri"/>
              </a:rPr>
              <a:t> e </a:t>
            </a:r>
            <a:r>
              <a:rPr lang="en-US" sz="1400" dirty="0" err="1">
                <a:solidFill>
                  <a:srgbClr val="1E2935"/>
                </a:solidFill>
                <a:ea typeface="Calibri"/>
                <a:cs typeface="Calibri"/>
              </a:rPr>
              <a:t>horário</a:t>
            </a:r>
            <a:r>
              <a:rPr lang="en-US" sz="1400" dirty="0">
                <a:solidFill>
                  <a:srgbClr val="1E2935"/>
                </a:solidFill>
                <a:ea typeface="Calibri"/>
                <a:cs typeface="Calibri"/>
              </a:rPr>
              <a:t> do dia.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84714" y="95107"/>
            <a:ext cx="4210421" cy="21517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spcAft>
                <a:spcPts val="1000"/>
              </a:spcAft>
              <a:buNone/>
            </a:pPr>
            <a:endParaRPr lang="en-US" sz="1400" dirty="0">
              <a:solidFill>
                <a:srgbClr val="1E2935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5"/>
                </a:solidFill>
              </a:rPr>
              <a:t>Total de </a:t>
            </a:r>
            <a:r>
              <a:rPr lang="en-US" sz="1400" dirty="0" err="1">
                <a:solidFill>
                  <a:srgbClr val="1E2935"/>
                </a:solidFill>
              </a:rPr>
              <a:t>registros</a:t>
            </a:r>
            <a:r>
              <a:rPr lang="en-US" sz="1400" dirty="0">
                <a:solidFill>
                  <a:srgbClr val="1E2935"/>
                </a:solidFill>
              </a:rPr>
              <a:t>, entradas e </a:t>
            </a:r>
            <a:r>
              <a:rPr lang="en-US" sz="1400" dirty="0" err="1">
                <a:solidFill>
                  <a:srgbClr val="1E2935"/>
                </a:solidFill>
              </a:rPr>
              <a:t>saídas</a:t>
            </a:r>
            <a:r>
              <a:rPr lang="en-US" sz="1400" dirty="0">
                <a:solidFill>
                  <a:srgbClr val="1E2935"/>
                </a:solidFill>
              </a:rPr>
              <a:t> no </a:t>
            </a:r>
            <a:r>
              <a:rPr lang="en-US" sz="1400" dirty="0" err="1">
                <a:solidFill>
                  <a:srgbClr val="1E2935"/>
                </a:solidFill>
              </a:rPr>
              <a:t>período</a:t>
            </a:r>
            <a:endParaRPr lang="en-US" sz="1400" dirty="0" err="1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1E2935"/>
                </a:solidFill>
              </a:rPr>
              <a:t>Quantidade</a:t>
            </a:r>
            <a:r>
              <a:rPr lang="en-US" sz="1400" dirty="0">
                <a:solidFill>
                  <a:srgbClr val="1E2935"/>
                </a:solidFill>
              </a:rPr>
              <a:t> de </a:t>
            </a:r>
            <a:r>
              <a:rPr lang="en-US" sz="1400" dirty="0" err="1">
                <a:solidFill>
                  <a:srgbClr val="1E2935"/>
                </a:solidFill>
              </a:rPr>
              <a:t>placas</a:t>
            </a:r>
            <a:r>
              <a:rPr lang="en-US" sz="1400" dirty="0">
                <a:solidFill>
                  <a:srgbClr val="1E2935"/>
                </a:solidFill>
              </a:rPr>
              <a:t> </a:t>
            </a:r>
            <a:r>
              <a:rPr lang="en-US" sz="1400" dirty="0" err="1">
                <a:solidFill>
                  <a:srgbClr val="1E2935"/>
                </a:solidFill>
              </a:rPr>
              <a:t>únicas</a:t>
            </a:r>
            <a:endParaRPr lang="en-US" sz="1400" dirty="0" err="1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1E2935"/>
                </a:solidFill>
              </a:rPr>
              <a:t>Tabela</a:t>
            </a:r>
            <a:r>
              <a:rPr lang="en-US" sz="1400" dirty="0">
                <a:solidFill>
                  <a:srgbClr val="1E2935"/>
                </a:solidFill>
              </a:rPr>
              <a:t> </a:t>
            </a:r>
            <a:r>
              <a:rPr lang="en-US" sz="1400" dirty="0" err="1">
                <a:solidFill>
                  <a:srgbClr val="1E2935"/>
                </a:solidFill>
              </a:rPr>
              <a:t>detalhada</a:t>
            </a:r>
            <a:r>
              <a:rPr lang="en-US" sz="1400" dirty="0">
                <a:solidFill>
                  <a:srgbClr val="1E2935"/>
                </a:solidFill>
              </a:rPr>
              <a:t> de </a:t>
            </a:r>
            <a:r>
              <a:rPr lang="en-US" sz="1400" dirty="0" err="1">
                <a:solidFill>
                  <a:srgbClr val="1E2935"/>
                </a:solidFill>
              </a:rPr>
              <a:t>cada</a:t>
            </a:r>
            <a:r>
              <a:rPr lang="en-US" sz="1400" dirty="0">
                <a:solidFill>
                  <a:srgbClr val="1E2935"/>
                </a:solidFill>
              </a:rPr>
              <a:t> </a:t>
            </a:r>
            <a:r>
              <a:rPr lang="en-US" sz="1400" dirty="0" err="1">
                <a:solidFill>
                  <a:srgbClr val="1E2935"/>
                </a:solidFill>
              </a:rPr>
              <a:t>veículo</a:t>
            </a:r>
            <a:r>
              <a:rPr lang="en-US" sz="1400" dirty="0">
                <a:solidFill>
                  <a:srgbClr val="1E2935"/>
                </a:solidFill>
              </a:rPr>
              <a:t> e tempo de </a:t>
            </a:r>
            <a:r>
              <a:rPr lang="en-US" sz="1400" dirty="0" err="1">
                <a:solidFill>
                  <a:srgbClr val="1E2935"/>
                </a:solidFill>
              </a:rPr>
              <a:t>permanência</a:t>
            </a:r>
            <a:endParaRPr lang="en-US" sz="1400" dirty="0" err="1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E2935"/>
                </a:solidFill>
              </a:rPr>
              <a:t>Exportação</a:t>
            </a:r>
            <a:r>
              <a:rPr lang="en-US" sz="1400" dirty="0">
                <a:solidFill>
                  <a:srgbClr val="1E2935"/>
                </a:solidFill>
              </a:rPr>
              <a:t> dos dados </a:t>
            </a:r>
            <a:r>
              <a:rPr lang="en-US" sz="1400" dirty="0" err="1">
                <a:solidFill>
                  <a:srgbClr val="1E2935"/>
                </a:solidFill>
              </a:rPr>
              <a:t>em</a:t>
            </a:r>
            <a:r>
              <a:rPr lang="en-US" sz="1400" dirty="0">
                <a:solidFill>
                  <a:srgbClr val="1E2935"/>
                </a:solidFill>
              </a:rPr>
              <a:t> CSV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7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8" name="Imagem 7" descr="Tabela&#10;&#10;O conteúdo gerado por IA pode estar incorreto.">
            <a:extLst>
              <a:ext uri="{FF2B5EF4-FFF2-40B4-BE49-F238E27FC236}">
                <a16:creationId xmlns:a16="http://schemas.microsoft.com/office/drawing/2014/main" id="{12CF83D9-8C2E-8B72-7908-61E93AC96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81" y="1821085"/>
            <a:ext cx="10800266" cy="45372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5486400" cy="54864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0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GaraGEM - Sistema de Gestão de Estacionamento</dc:title>
  <dc:subject>PptxGenJS Presentation</dc:subject>
  <dc:creator>GaraGEM</dc:creator>
  <cp:lastModifiedBy>GaraGEM</cp:lastModifiedBy>
  <cp:revision>104</cp:revision>
  <dcterms:created xsi:type="dcterms:W3CDTF">2026-06-10T20:41:34Z</dcterms:created>
  <dcterms:modified xsi:type="dcterms:W3CDTF">2026-06-10T21:10:18Z</dcterms:modified>
</cp:coreProperties>
</file>